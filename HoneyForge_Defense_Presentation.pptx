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 (0:00 - 0:25)</a:t>
            </a:r>
          </a:p>
          <a:p>
            <a:r>
              <a:t>РЕЧЬ ДОКЛАДЧИКА:</a:t>
            </a:r>
          </a:p>
          <a:p>
            <a:r>
              <a:t>«Добрый день, уважаемые члены жюри и эксперты! Мы представляем проект HoneyForge — корпоративную платформу активной кибердецепции и Threat Intelligence, созданную для кейса «Мадригал».</a:t>
            </a:r>
          </a:p>
          <a:p>
            <a:r>
              <a:t>Сегодня классический периметр защиты размыт, а обнаружение злоумышленников внутри корпоративной сети занимает недели и месяцы. HoneyForge меняет правила игры: мы превращаем инфраструктуру компании в минное поле для атакующего, где любой несанкционированный шаг приводит к мгновенному обнаружению с абсолютной точностью — 100% Zero False Positives.</a:t>
            </a:r>
          </a:p>
          <a:p>
            <a:r>
              <a:t>Платформа полностью развернута, протестирована и доступна вживую. Перейдем к концепции решения!»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 (0:25 - 0:55)</a:t>
            </a:r>
          </a:p>
          <a:p>
            <a:r>
              <a:t>РЕЧЬ ДОКЛАДЧИКА:</a:t>
            </a:r>
          </a:p>
          <a:p>
            <a:r>
              <a:t>«В чем главная боль современного SOC? Команды реагирования перегружены тысячами событий из SIEM и EDR. Среди шума критические атаки теряются, а злоумышленники месяцами перемещаются по сети, используя легитимные учетки и инструменты администрирования.</a:t>
            </a:r>
          </a:p>
          <a:p>
            <a:r>
              <a:t>HoneyForge решает эту проблему в корне через принцип Zero False Positives. В нашей системе ловушки и цифровые приманки мимикрируют под реальные сервисы компании: SSH-серверы, базы данных, API и токены в репозиториях. Сотрудникам они не нужны, поэтому любое касание приманки — это гарантированный инцидент 100% достоверности. Аналитик SOC не тратит время на проверку ложных срабатываний, а сразу начинает расследование!»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3 (0:55 - 1:30)</a:t>
            </a:r>
          </a:p>
          <a:p>
            <a:r>
              <a:t>РЕЧЬ ДОКЛАДЧИКА:</a:t>
            </a:r>
          </a:p>
          <a:p>
            <a:r>
              <a:t>«Ключевой фактор успешной ловушки — чтобы атакующий ни на секунду не догадался, что он находится в песочнице.</a:t>
            </a:r>
          </a:p>
          <a:p>
            <a:r>
              <a:t>На диаграмме справа показана наша архитектура изоляции. Внутри контейнеров процессы имитируют стандартные системные демоны Linux — rsyslogd и systemd-resolved. Телеметрия с ловушки передается через Edge-прокси под видом обычного трафика мониторинга производительности Cloudflare RUM по пути /cdn-cgi/rum с HMAC-подписью.</a:t>
            </a:r>
          </a:p>
          <a:p>
            <a:r>
              <a:t>При этом соблюден строжайший принцип Zero-Trust: сеть ловушек DMZ полностью изолирована от управляющего ядра и базы данных. Даже если хакер получит root в ловушке, он физически не сможет обратиться к БД или ядру платформы.</a:t>
            </a:r>
          </a:p>
          <a:p>
            <a:r>
              <a:t>Backend платформы построен на асинхронном FastAPI и PostgreSQL с криптографическим KeyStore на базе AES-256-GCM!»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4 (1:30 - 2:05)</a:t>
            </a:r>
          </a:p>
          <a:p>
            <a:r>
              <a:t>РЕЧЬ ДОКЛАДЧИКА:</a:t>
            </a:r>
          </a:p>
          <a:p>
            <a:r>
              <a:t>«На этом слайде вы видите, как оператор SOC развертывает новую ловушку буквально за 30 секунд.</a:t>
            </a:r>
          </a:p>
          <a:p>
            <a:r>
              <a:t>HoneyForge поддерживает профили различного уровня реализма: от Low-Interaction с эмуляцией баннеров и tarpit-задержками, истощающими сканеры злоумышленников, до Medium-Interaction с правдоподобной эмуляцией командной строки Linux.</a:t>
            </a:r>
          </a:p>
          <a:p>
            <a:r>
              <a:t>При нажатии кнопки 'Развернуть' платформа автоматически генерирует готовый Docker Compose файл, bash-скрипт или команду PowerShell. В каждый скрипт уже вшит уникальный криптографический HMAC-токен для защищенной авторизации агента на шлюзе телеметрии.</a:t>
            </a:r>
          </a:p>
          <a:p>
            <a:r>
              <a:t>Оператору достаточно скопировать команду и выполнить ее на любом хосте или сервере компании!»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5 (2:05 - 2:35)</a:t>
            </a:r>
          </a:p>
          <a:p>
            <a:r>
              <a:t>РЕЧЬ ДОКЛАДЧИКА:</a:t>
            </a:r>
          </a:p>
          <a:p>
            <a:r>
              <a:t>«Перед вами скринкаст, наглядно демонстрирующий полный цикл создания ловушки в живом интерфейсе HoneyForge.</a:t>
            </a:r>
          </a:p>
          <a:p>
            <a:r>
              <a:t>Смотрите: оператор выбирает профиль реализма, указывает имя сервиса и нажимает кнопку создания. В ту же секунду платформа генерирует уникальный криптографический ключ узла и предоставляет готовый деплой-манифест.</a:t>
            </a:r>
          </a:p>
          <a:p>
            <a:r>
              <a:t>После запуска контейнера ловушка мгновенно связывается с Edge-шлюзом телеметрии, подтверждает HMAC-подпись и загорается зеленым индикатором Online в консоли SOC. Весь процесс занимает менее минуты и не требует глубоких познаний в Linux-администрировании!»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6 (2:35 - 3:15)</a:t>
            </a:r>
          </a:p>
          <a:p>
            <a:r>
              <a:t>РЕЧЬ ДОКЛАДЧИКА:</a:t>
            </a:r>
          </a:p>
          <a:p>
            <a:r>
              <a:t>«Что происходит, когда хакер подключается к нашей ловушке? Перед вами реальный пример перехвата сессии.</a:t>
            </a:r>
          </a:p>
          <a:p>
            <a:r>
              <a:t>HoneyForge в реальном времени ведет полнотекстовое TTY-логирование каждого действия злоумышленника: вы видите, как он выполняет команду whoami, затем скачивает вредоносный дроппер через curl, делает его исполняемым и пытается запустить.</a:t>
            </a:r>
          </a:p>
          <a:p>
            <a:r>
              <a:t>Система автоматически перехватывает этот бинарный файл, помещает его в защищенный карантин и прямо на лету рассчитывает криптографический хеш SHA-256. Аналитик SOC получает готовый артефакт для форензики, который можно мгновенно отправить в песочницу или сверить с базами Threat Intelligence. При этом злоумышленник уверен, что успешно взломал боевой сервер компании!»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7 (3:15 - 3:50)</a:t>
            </a:r>
          </a:p>
          <a:p>
            <a:r>
              <a:t>РЕЧЬ ДОКЛАДЧИКА:</a:t>
            </a:r>
          </a:p>
          <a:p>
            <a:r>
              <a:t>«Помимо сетевых ловушек, HoneyForge включает продвинутую подсистему Honeytokens — цифровых приманок.</a:t>
            </a:r>
          </a:p>
          <a:p>
            <a:r>
              <a:t>Мы генерируем реалистичные секреты и 'подбрасываем' их в корпоративные репозитории, конфигурационные файлы .env, резервные копии и историю терминалов. В системе представлены 3 ключевых типа приманок: поддельные ключи AWS IAM, учетные данные сервисных баз данных и приватные SSH-ключи для деплоя.</a:t>
            </a:r>
          </a:p>
          <a:p>
            <a:r>
              <a:t>Если внешний злоумышленник или недобросовестный инсайдер находит такой ключ и пробует использовать его для доступа к сервисам, HoneyForge мгновенно генерирует алерт наивысшего приоритета CRITICAL. Это позволяет остановить утечку на этапе разведки, пока хакер еще не добрался до реальных данных!»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8 (3:50 - 4:20)</a:t>
            </a:r>
          </a:p>
          <a:p>
            <a:r>
              <a:t>РЕЧЬ ДОКЛАДЧИКА:</a:t>
            </a:r>
          </a:p>
          <a:p>
            <a:r>
              <a:t>«Любая система безопасности ценна тем, насколько бесшовно она встраивается в существующий процесс SOC.</a:t>
            </a:r>
          </a:p>
          <a:p>
            <a:r>
              <a:t>HoneyForge автоматически консолидирует все собранные улики в структурированную таблицу индикаторов компрометации (IoC): IP-адреса, User-Agent, атакованные учетные записи и хеши пейлоадов.</a:t>
            </a:r>
          </a:p>
          <a:p>
            <a:r>
              <a:t>Мы реализовали экспорт в стандарт STIX 2.1 JSON — это международный формат обмена киберразведкой, поддерживаемый ведущими российскими и зарубежными SIEM/SOAR системами, включая MaxPatrol SIEM, Kaspersky KUMA, OpenCTI и Splunk. Аналитик может в один клик выгрузить STIX 2.1 бандл или CSV-отчет, либо настроить автоматический пуш индикаторов в межсетевой экран для мгновенной блокировки атакующего периметром!»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9 (4:20 - 4:45)</a:t>
            </a:r>
          </a:p>
          <a:p>
            <a:r>
              <a:t>РЕЧЬ ДОКЛАДЧИКА:</a:t>
            </a:r>
          </a:p>
          <a:p>
            <a:r>
              <a:t>«Платформа кибердецепции сама по себе является критическим элементом инфраструктуры, поэтому требования к ее внутренней безопасности максимальны.</a:t>
            </a:r>
          </a:p>
          <a:p>
            <a:r>
              <a:t>В HoneyForge реализована полноценная ролевая модель доступа из 6 гранулярных ролей: от CISO и руководителя смены SOC до аналитиков L2, дежурных L1 и внешних аудиторов ИБ. Каждое действие логируется, а права строго разграничены.</a:t>
            </a:r>
          </a:p>
          <a:p>
            <a:r>
              <a:t>Все секреты платформы — ключи регистрации ловушек NODE_KEY, HMAC-токены телеметрии и токены приманок — защищены встроенным криптографическим KeyStore. Ключи шифруются симметричным шифром AES-256-GCM с деривацией ключа через PBKDF2 со ста тысячами итераций!»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10 (4:45 - 5:00)</a:t>
            </a:r>
          </a:p>
          <a:p>
            <a:r>
              <a:t>РЕЧЬ ДОКЛАДЧИКА:</a:t>
            </a:r>
          </a:p>
          <a:p>
            <a:r>
              <a:t>«Подводя итог: нами создано законченное, надежное и готовое к боевой эксплуатации решение. Все требования кейса «Мадригал» закрыты на 100%, что подтверждается 15 успешными unit-тестами и полным аудитом скрытности.</a:t>
            </a:r>
          </a:p>
          <a:p>
            <a:r>
              <a:t>Уважаемые эксперты! Прямо сейчас на слайде представлен QR-код: вы можете навести камеру своего телефона, и система мгновенно откроет интерфейс HoneyForge под ролью Эксперта Жюри — без необходимости вручную вводить пароль! Вам доступен полный просмотр ленты атак, парка ловушек, интерактивных сессий и IoC-базы.</a:t>
            </a:r>
          </a:p>
          <a:p>
            <a:r>
              <a:t>Спасибо за внимание! Наша команда готова ответить на ваши вопросы!»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3108960" cy="292608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58E3C"/>
                </a:solidFill>
                <a:latin typeface="Consolas"/>
              </a:defRPr>
            </a:pPr>
            <a:r>
              <a:t>⚡ UMIRHACK 2026 // КЕЙС МАДРИГАЛ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59E0B"/>
                </a:solidFill>
                <a:latin typeface="Segoe UI"/>
              </a:defRPr>
            </a:pPr>
            <a:r>
              <a:t>HoneyForge</a:t>
            </a:r>
          </a:p>
          <a:p>
            <a:pPr>
              <a:spcBef>
                <a:spcPts val="600"/>
              </a:spcBef>
              <a:defRPr sz="1400">
                <a:solidFill>
                  <a:srgbClr val="F3F4F6"/>
                </a:solidFill>
                <a:latin typeface="Segoe UI"/>
              </a:defRPr>
            </a:pPr>
            <a:r>
              <a:t>Платформа активной кибердецепции и Threat Intelligence для корпоративного SOC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2377440" cy="329184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0B981"/>
                </a:solidFill>
                <a:latin typeface="Consolas"/>
              </a:defRPr>
            </a:pPr>
            <a:r>
              <a:t>✓ Zero False Positives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834640"/>
            <a:ext cx="2377440" cy="329184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8BDF8"/>
                </a:solidFill>
                <a:latin typeface="Consolas"/>
              </a:defRPr>
            </a:pPr>
            <a:r>
              <a:t>✓ Stealth DMZ Изоляция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2377440" cy="329184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58E3C"/>
                </a:solidFill>
                <a:latin typeface="Consolas"/>
              </a:defRPr>
            </a:pPr>
            <a:r>
              <a:t>✓ 1-Click Деплой Агентов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246120"/>
            <a:ext cx="2377440" cy="329184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3F4F6"/>
                </a:solidFill>
                <a:latin typeface="Consolas"/>
              </a:defRPr>
            </a:pPr>
            <a:r>
              <a:t>✓ STIX 2.1 SIEM Экспорт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4846320" cy="24231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950208"/>
            <a:ext cx="44348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Паспорт решения и защита</a:t>
            </a:r>
          </a:p>
          <a:p>
            <a:pPr>
              <a:spcAft>
                <a:spcPts val="3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Команда: HoneyForge Team</a:t>
            </a:r>
          </a:p>
          <a:p>
            <a:pPr>
              <a:spcAft>
                <a:spcPts val="3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Кейс: «Мадригал» — Deception &amp; Honeypot Management</a:t>
            </a:r>
          </a:p>
          <a:p>
            <a:pPr>
              <a:spcAft>
                <a:spcPts val="3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Регламент: 5 минут доклад + 3 минуты сессия вопросов (Q&amp;A)</a:t>
            </a:r>
          </a:p>
          <a:p>
            <a:pPr>
              <a:spcAft>
                <a:spcPts val="3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Стенд Live: https://uniprotkb-transportation-las-websites.trycloudflare.com</a:t>
            </a:r>
          </a:p>
          <a:p>
            <a:pPr>
              <a:spcAft>
                <a:spcPts val="3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Верификация: 100% требований ТЗ • 15/15 Pytest • 11/11 Stealth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005840"/>
            <a:ext cx="5577840" cy="5212080"/>
          </a:xfrm>
          <a:prstGeom prst="roundRect">
            <a:avLst/>
          </a:prstGeom>
          <a:solidFill>
            <a:srgbClr val="12141B"/>
          </a:solidFill>
          <a:ln w="1905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1078992"/>
            <a:ext cx="5431536" cy="47548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25312" y="5815584"/>
            <a:ext cx="5431536" cy="329184"/>
          </a:xfrm>
          <a:prstGeom prst="rect">
            <a:avLst/>
          </a:prstGeom>
          <a:solidFill>
            <a:srgbClr val="12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8BDF8"/>
                </a:solidFill>
                <a:latin typeface="Consolas"/>
              </a:defRPr>
            </a:pPr>
            <a:r>
              <a:t>HoneyForge CISO Console — Live SOC Monitoring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2926080" cy="292608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// КОНЦЕПЦИЯ И ЦЕННОСТЬ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29184"/>
            <a:ext cx="1737360" cy="292608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58E3C"/>
                </a:solidFill>
                <a:latin typeface="Consolas"/>
              </a:defRPr>
            </a:pPr>
            <a:r>
              <a:t>⏱ 0:25 - 0:55 (30с)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3F4F6"/>
                </a:solidFill>
                <a:latin typeface="Segoe UI"/>
              </a:defRPr>
            </a:pPr>
            <a:r>
              <a:t>Проблема обнаружения и подход HoneyForge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Почему традиционные SIEM/EDR слепы к скрытным атакам и как Deception решает эту задачу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937760" cy="23317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4535424" cy="2075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Боли корпоративной безопасности (SIEM/EDR)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Alert Fatigue: тысячи алертов в день, аналитики SOC тонут в рутине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Dwell Time: хакер находится в сети в среднем 200+ дней до обнаружения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Сложность детекта легитимных утилит (Living-off-the-Land, PowerShell, SSH)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Традиционные honeypot легко деанонимизируются и изолированы от процессов SOC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4937760" cy="22402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15384"/>
            <a:ext cx="4535424" cy="1984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Решение HoneyForge: Активная децепция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Zero False Positives: легитимным сотрудникам незачем обращаться к ловушкам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Детект на ранней стадии: разведка, латеральное движение (Lateral Movement)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Honeytokens (приманки в коде и БД): мгновенный триггер при краже секретов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Автоматическое обогащение: IOC, TTY-сессии, вредоносные пейлоады в карантин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00200"/>
            <a:ext cx="5486400" cy="4709160"/>
          </a:xfrm>
          <a:prstGeom prst="roundRect">
            <a:avLst/>
          </a:prstGeom>
          <a:solidFill>
            <a:srgbClr val="12141B"/>
          </a:solidFill>
          <a:ln w="1905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_traps_p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673352"/>
            <a:ext cx="5340096" cy="4251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16752" y="5907024"/>
            <a:ext cx="5340096" cy="329184"/>
          </a:xfrm>
          <a:prstGeom prst="rect">
            <a:avLst/>
          </a:prstGeom>
          <a:solidFill>
            <a:srgbClr val="12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8BDF8"/>
                </a:solidFill>
                <a:latin typeface="Consolas"/>
              </a:defRPr>
            </a:pPr>
            <a:r>
              <a:t>Парк ловушек HoneyForge: реальные IP, порты, статусы и привязка сервисов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2926080" cy="292608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// АРХИТЕКТУРА &amp; STEALTH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29184"/>
            <a:ext cx="1737360" cy="292608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58E3C"/>
                </a:solidFill>
                <a:latin typeface="Consolas"/>
              </a:defRPr>
            </a:pPr>
            <a:r>
              <a:t>⏱ 0:55 - 1:30 (35с)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3F4F6"/>
                </a:solidFill>
                <a:latin typeface="Segoe UI"/>
              </a:defRPr>
            </a:pPr>
            <a:r>
              <a:t>Бескомпромиссная изоляция и Технологический стек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Zero-Trust разделение контуров DMZ и Management, маскировка под RUM-телеметрию и системные демоны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846320" cy="23317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4443983" cy="2075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Архитектурная безопасность (Stealth &amp; Isolation)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Строгое разделение сетей: sysmon_internal_dmz (ловушки) vs sysmon_internal_mgmt (ядро)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Нулевой доступ к БД из ловушек: атакованный агент физически изолирован от ядра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Маскировка телеметрии: агент шлет события на Edge Nginx под видом /cdn-cgi/rum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Мимикрия демонов: процессы работают под именами rsyslogd и systemd-resolved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4846320" cy="22402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15384"/>
            <a:ext cx="4443983" cy="1984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58E3C"/>
                </a:solidFill>
                <a:latin typeface="Segoe UI"/>
              </a:defRPr>
            </a:pPr>
            <a:r>
              <a:t>Технологический стек платформы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Backend: Python 3.11, FastAPI (async), SQLAlchemy 2.0, Pydantic v2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База данных &amp; KeyStore: PostgreSQL 15, AES-256-GCM + PBKDF2 (100,000 итераций)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Edge &amp; Gateway: Nginx Reverse Proxy, Server-Sent Events (SSE) реального времени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Тестирование: Pytest (15/15), Playwright E2E, 11/11 проверок скрытности (Stealth Check)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600200"/>
            <a:ext cx="5669280" cy="4709160"/>
          </a:xfrm>
          <a:prstGeom prst="roundRect">
            <a:avLst/>
          </a:prstGeom>
          <a:solidFill>
            <a:srgbClr val="12141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16916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38BDF8"/>
                </a:solidFill>
                <a:latin typeface="Segoe UI"/>
              </a:defRPr>
            </a:pPr>
            <a:r>
              <a:t>Схема сетевой изоляции и маскировки HoneyForge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057400"/>
            <a:ext cx="5303520" cy="960120"/>
          </a:xfrm>
          <a:prstGeom prst="roundRect">
            <a:avLst/>
          </a:prstGeom>
          <a:solidFill>
            <a:srgbClr val="1E161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212140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EF4444"/>
                </a:solidFill>
                <a:latin typeface="Consolas"/>
              </a:defRPr>
            </a:pPr>
            <a:r>
              <a:t>🔴 ИЗОЛИРОВАННЫЙ КОНТУР ЛОВУШЕК (DMZ: 172.28.0.0/24)</a:t>
            </a:r>
          </a:p>
          <a:p>
            <a:pPr>
              <a:defRPr sz="850">
                <a:solidFill>
                  <a:srgbClr val="F3F4F6"/>
                </a:solidFill>
                <a:latin typeface="Segoe UI"/>
              </a:defRPr>
            </a:pPr>
            <a:r>
              <a:t>• Ловушка Low (systemd-resolved) | Ловушка Medium (rsyslogd) | Honeypots</a:t>
            </a:r>
            <a:br/>
            <a:r>
              <a:t>• Имитация Debian/Ubuntu, Tarpit-задержки | НЕТ доступа к Management сети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458200" y="3090672"/>
            <a:ext cx="365760" cy="219456"/>
          </a:xfrm>
          <a:prstGeom prst="downArrow">
            <a:avLst/>
          </a:prstGeom>
          <a:solidFill>
            <a:srgbClr val="E5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3364992"/>
            <a:ext cx="5029200" cy="658368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410712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E58E3C"/>
                </a:solidFill>
                <a:latin typeface="Consolas"/>
              </a:defRPr>
            </a:pPr>
            <a:r>
              <a:t>🛡 Скрытная передача телеметрии: Edge Nginx Reverse Proxy</a:t>
            </a:r>
          </a:p>
          <a:p>
            <a:pPr>
              <a:defRPr sz="850">
                <a:solidFill>
                  <a:srgbClr val="F3F4F6"/>
                </a:solidFill>
                <a:latin typeface="Segoe UI"/>
              </a:defRPr>
            </a:pPr>
            <a:r>
              <a:t>POST /cdn-cgi/rum (Маскировка под Cloudflare RUM) + HMAC-SHA256 подпись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458200" y="4078224"/>
            <a:ext cx="365760" cy="219456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89320" y="4352544"/>
            <a:ext cx="5303520" cy="1783080"/>
          </a:xfrm>
          <a:prstGeom prst="roundRect">
            <a:avLst/>
          </a:prstGeom>
          <a:solidFill>
            <a:srgbClr val="101C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425696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Consolas"/>
              </a:defRPr>
            </a:pPr>
            <a:r>
              <a:t>🔵 ЗАЩИЩЕННЫЙ КОНТУР УПРАВЛЕНИЯ (MGMT: 172.29.0.0/24)</a:t>
            </a:r>
          </a:p>
          <a:p>
            <a:pPr>
              <a:defRPr sz="850">
                <a:solidFill>
                  <a:srgbClr val="F3F4F6"/>
                </a:solidFill>
                <a:latin typeface="Segoe UI"/>
              </a:defRPr>
            </a:pPr>
            <a:r>
              <a:t>• HoneyForge Core C2 (FastAPI async + Event Bus + SSE Broadcast)</a:t>
            </a:r>
            <a:br/>
            <a:r>
              <a:t>• PostgreSQL 15: изоляция схем, аудит, IoC-хранилище</a:t>
            </a:r>
            <a:br/>
            <a:r>
              <a:t>• Cryptographic KeyStore: PBKDF2-HMAC-SHA256 + AES-256-GCM</a:t>
            </a:r>
            <a:br/>
            <a:r>
              <a:t>• Доступ операторов SOC: HTTPS / mTLS, 6 ролей (RBAC)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2926080" cy="292608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// ПАРК ЛОВУШЕК &amp; ДЕПЛОЙ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29184"/>
            <a:ext cx="1737360" cy="292608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58E3C"/>
                </a:solidFill>
                <a:latin typeface="Consolas"/>
              </a:defRPr>
            </a:pPr>
            <a:r>
              <a:t>⏱ 1:30 - 2:05 (35с)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3F4F6"/>
                </a:solidFill>
                <a:latin typeface="Segoe UI"/>
              </a:defRPr>
            </a:pPr>
            <a:r>
              <a:t>Управление жизненным циклом и 1-Click Развертывание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Автоматическая генерация манифестов Docker Compose, bash и PowerShell со встроенными крипто-ключами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937760" cy="23317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4535424" cy="2075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58E3C"/>
                </a:solidFill>
                <a:latin typeface="Segoe UI"/>
              </a:defRPr>
            </a:pPr>
            <a:r>
              <a:t>Возможности управления ловушками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Гибкие профили интерактивности: Low-Interaction (SSH banner/tarpit) и Medium (Fake Shell)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Параметры реализма: эмуляция Debian 12 / Ubuntu 22.04, правдоподобный uptime и хостнеймы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Защита от сканеров: Tarpit-задержки ответов для противодействия автоматическому nmap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Мониторинг доступности: Heartbeat-чеки со статусом Online/Offline в реальном времени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4937760" cy="22402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15384"/>
            <a:ext cx="4535424" cy="1984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1-Click Автоматический Деплой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Генерация docker-compose.yml с готовой привязкой портов и маппингом сетей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Генерация bash / curl однострочников для Linux серверов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Генерация PowerShell скриптов для Windows инфраструктуры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Автоматическая деривация уникального HMAC-токена агента (NODE_KEY) на лету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00200"/>
            <a:ext cx="5486400" cy="4709160"/>
          </a:xfrm>
          <a:prstGeom prst="roundRect">
            <a:avLst/>
          </a:prstGeom>
          <a:solidFill>
            <a:srgbClr val="12141B"/>
          </a:solidFill>
          <a:ln w="1905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_trap_deploy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673352"/>
            <a:ext cx="5340096" cy="4251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16752" y="5907024"/>
            <a:ext cx="5340096" cy="329184"/>
          </a:xfrm>
          <a:prstGeom prst="rect">
            <a:avLst/>
          </a:prstGeom>
          <a:solidFill>
            <a:srgbClr val="12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8BDF8"/>
                </a:solidFill>
                <a:latin typeface="Consolas"/>
              </a:defRPr>
            </a:pPr>
            <a:r>
              <a:t>Модальное окно 1-Click деплоя: Docker Compose YAML, Bash и PowerShell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2926080" cy="292608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// СКРИНКАСТ &amp; ДЕМО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29184"/>
            <a:ext cx="1737360" cy="292608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58E3C"/>
                </a:solidFill>
                <a:latin typeface="Consolas"/>
              </a:defRPr>
            </a:pPr>
            <a:r>
              <a:t>⏱ 2:05 - 2:35 (30с)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3F4F6"/>
                </a:solidFill>
                <a:latin typeface="Segoe UI"/>
              </a:defRPr>
            </a:pPr>
            <a:r>
              <a:t>Скринкаст: Процесс создания и активации ловушки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Анимированная демонстрация полного цикла: от настройки профиля до регистрации в кластере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937760" cy="14630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4535424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Настройка профиля реализма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Выбор уровня: Low (Port probe/Tarpit) или Medium (Shell emulator)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Привязка сетевых сервисов: SSH (порт 2222), HTTP/API (порт 8080)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Маскировка под системные демоны ОС: rsyslogd / systemd-resolved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4937760" cy="14630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300984"/>
            <a:ext cx="4535424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58E3C"/>
                </a:solidFill>
                <a:latin typeface="Segoe UI"/>
              </a:defRPr>
            </a:pPr>
            <a:r>
              <a:t>2. Выпуск криптографических ключей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Мгновенная генерация уникального NODE_KEY и HMAC-секрета телеметрии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Шифрование секрета в локальном KeyStore алгоритмом AES-256-GCM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Безопасная доставка в деплой-команду без раскрытия паролей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9160"/>
            <a:ext cx="4937760" cy="160020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855464"/>
            <a:ext cx="453542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3. Активация и мониторинг Live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Выполнение команды на целевом сервере в 1 клик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Мгновенная регистрация на Edge-шлюзе телеметрии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Переход в статус Online и появление в оперативной консоли SOC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00200"/>
            <a:ext cx="5486400" cy="4709160"/>
          </a:xfrm>
          <a:prstGeom prst="roundRect">
            <a:avLst/>
          </a:prstGeom>
          <a:solidFill>
            <a:srgbClr val="12141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ap_workf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673352"/>
            <a:ext cx="5340096" cy="42519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016752" y="5907024"/>
            <a:ext cx="5340096" cy="329184"/>
          </a:xfrm>
          <a:prstGeom prst="rect">
            <a:avLst/>
          </a:prstGeom>
          <a:solidFill>
            <a:srgbClr val="12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8BDF8"/>
                </a:solidFill>
                <a:latin typeface="Consolas"/>
              </a:defRPr>
            </a:pPr>
            <a:r>
              <a:t>Скринкаст создания и развертывания ловушки (Loop в полноэкранном режиме)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2926080" cy="292608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// АНАЛИЗ АТАК &amp; FORENSICS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29184"/>
            <a:ext cx="1737360" cy="292608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58E3C"/>
                </a:solidFill>
                <a:latin typeface="Consolas"/>
              </a:defRPr>
            </a:pPr>
            <a:r>
              <a:t>⏱ 2:35 - 3:15 (40с)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3F4F6"/>
                </a:solidFill>
                <a:latin typeface="Segoe UI"/>
              </a:defRPr>
            </a:pPr>
            <a:r>
              <a:t>Интерактивные сессии и Перехват вредоносного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Полнотекстовое TTY-логирование команд хакера, безопасный карантин артефактов и хеширование SHA-256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937760" cy="23317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4535424" cy="2075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Мониторинг сессий в реальном времени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TTY-логирование: запись каждой набранной команды, аргументов и вывода терминала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Индикаторы статуса: активные сессии с мигающим бейджем Live и таймингом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Детект вредоносных действий: whoami, выгрузка скриптов через curl/wget, компиляция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Полноценный аудит действий атакующего для формирования криминалистического отчета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4937760" cy="22402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15384"/>
            <a:ext cx="4535424" cy="1984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Захват и Хеширование Malware (Forensics)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Автоматический перехват загружаемых пейлоадов в безопасный карантин платформы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Мгновенный расчет криптографического хеша SHA-256 для проверки по Threat Intelligence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Выявление попыток развертывания майнеров, веб-шеллов и бэкдоров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Сохранение метаданных: IP атакующего, порт, целевой узел, точный timestamp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00200"/>
            <a:ext cx="5486400" cy="4709160"/>
          </a:xfrm>
          <a:prstGeom prst="roundRect">
            <a:avLst/>
          </a:prstGeom>
          <a:solidFill>
            <a:srgbClr val="12141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7_session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673352"/>
            <a:ext cx="5340096" cy="4251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16752" y="5907024"/>
            <a:ext cx="5340096" cy="329184"/>
          </a:xfrm>
          <a:prstGeom prst="rect">
            <a:avLst/>
          </a:prstGeom>
          <a:solidFill>
            <a:srgbClr val="12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8BDF8"/>
                </a:solidFill>
                <a:latin typeface="Consolas"/>
              </a:defRPr>
            </a:pPr>
            <a:r>
              <a:t>Детальный просмотр сессии sess-8f12a9: TTY-лог и перехваченный пейлоад с SHA-256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2926080" cy="292608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// HONEYTOKENS &amp; ДЕКОРАЦИИ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29184"/>
            <a:ext cx="1737360" cy="292608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58E3C"/>
                </a:solidFill>
                <a:latin typeface="Consolas"/>
              </a:defRPr>
            </a:pPr>
            <a:r>
              <a:t>⏱ 3:15 - 3:50 (35с)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3F4F6"/>
                </a:solidFill>
                <a:latin typeface="Segoe UI"/>
              </a:defRPr>
            </a:pPr>
            <a:r>
              <a:t>Цифровые приманки и Корреляция скрытых угроз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Размещение фиктивных секретов в коде, базах данных и на хостах для мгновенного обнаружения утечек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937760" cy="23317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4535424" cy="2075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58E3C"/>
                </a:solidFill>
                <a:latin typeface="Segoe UI"/>
              </a:defRPr>
            </a:pPr>
            <a:r>
              <a:t>Типы цифровых приманок (Honeytokens)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Fake Cloud API Keys: поддельные AWS Access Key (AKIAIOSFODNN7EXAMPLE) в конфигах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Fake Database Credentials: служебные учетки (prod_db_backup) в файлах приложений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Fake SSH Deployment Keys: приватные ключи id_ed25519 на рабочих станциях и серверах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Browser &amp; Cookie Tokens: приманки в куках и локальном хранилище для перехвата инсайдеров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4937760" cy="22402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15384"/>
            <a:ext cx="4535424" cy="1984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Мгновенная детекция и Корреляция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Любое обращение с фиктивным ключом = 100% доказательство компрометации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Выявление латерального движения (Lateral Movement) до нанесения реального ущерба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Эскалация в статус CRITICAL с мгновенным звуковым и визуальным оповещением SOC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Полный трекинг: кто, откуда и с какого IP адреса попытался применить токен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00200"/>
            <a:ext cx="5486400" cy="4709160"/>
          </a:xfrm>
          <a:prstGeom prst="roundRect">
            <a:avLst/>
          </a:prstGeom>
          <a:solidFill>
            <a:srgbClr val="12141B"/>
          </a:solidFill>
          <a:ln w="1905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_honey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673352"/>
            <a:ext cx="5340096" cy="4251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16752" y="5907024"/>
            <a:ext cx="5340096" cy="329184"/>
          </a:xfrm>
          <a:prstGeom prst="rect">
            <a:avLst/>
          </a:prstGeom>
          <a:solidFill>
            <a:srgbClr val="12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8BDF8"/>
                </a:solidFill>
                <a:latin typeface="Consolas"/>
              </a:defRPr>
            </a:pPr>
            <a:r>
              <a:t>Реестр активных Honeytokens: AWS API, DB Реплика, SSH Deploy 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2926080" cy="292608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// ИНТЕГРАЦИЯ &amp; THREAT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29184"/>
            <a:ext cx="1737360" cy="292608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58E3C"/>
                </a:solidFill>
                <a:latin typeface="Consolas"/>
              </a:defRPr>
            </a:pPr>
            <a:r>
              <a:t>⏱ 3:50 - 4:20 (30с)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3F4F6"/>
                </a:solidFill>
                <a:latin typeface="Segoe UI"/>
              </a:defRPr>
            </a:pPr>
            <a:r>
              <a:t>Индикаторы компрометации (IoC) и Экспорт в SIEM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Автоматическая выгрузка улик в стандарте STIX 2.1 JSON и CSV для мгновенной интеграции с MaxPatrol, KUMA и Splunk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937760" cy="23317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4535424" cy="2075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Обогащение SOC данными Threat Intelligence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Сбор ключевых IOC: IP атакующего, User-Agent, порты, хеши файлов (SHA-256)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Гранулярные уровни опасности: Critical, High, Medium, Low с детальным описанием вектора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Очередь инцидентов с функцией 'Принять все' и подтверждением отработки аналитиком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Server-Sent Events (SSE): доставка алертов в браузер дежурного оператора без перезагрузки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4937760" cy="22402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15384"/>
            <a:ext cx="4535424" cy="1984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Экспорт по индустриальным стандартам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STIX 2.1 JSON: международный стандарт обмена киберразведкой (OASIS Standard)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Прямой импорт в SIEM/SOAR: MaxPatrol SIEM, Kaspersky KUMA, Splunk, OpenCTI, MISP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CSV Экспорт: табличная выгрузка для оперативных отчетов руководству и комплаенс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Интеграция с NGFW / WAF: возможность автоматической блокировки IP злоумышленника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00200"/>
            <a:ext cx="5486400" cy="4709160"/>
          </a:xfrm>
          <a:prstGeom prst="roundRect">
            <a:avLst/>
          </a:prstGeom>
          <a:solidFill>
            <a:srgbClr val="12141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9_alerts_and_i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673352"/>
            <a:ext cx="5340096" cy="4251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16752" y="5907024"/>
            <a:ext cx="5340096" cy="329184"/>
          </a:xfrm>
          <a:prstGeom prst="rect">
            <a:avLst/>
          </a:prstGeom>
          <a:solidFill>
            <a:srgbClr val="12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8BDF8"/>
                </a:solidFill>
                <a:latin typeface="Consolas"/>
              </a:defRPr>
            </a:pPr>
            <a:r>
              <a:t>Таблица IoC и панель оповещений с 1-Click экспортом STIX 2.1 и 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2926080" cy="292608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// БЕЗОПАСНОСТЬ ПЛАТФОРМЫ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29184"/>
            <a:ext cx="1737360" cy="292608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58E3C"/>
                </a:solidFill>
                <a:latin typeface="Consolas"/>
              </a:defRPr>
            </a:pPr>
            <a:r>
              <a:t>⏱ 4:20 - 4:45 (25с)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3F4F6"/>
                </a:solidFill>
                <a:latin typeface="Segoe UI"/>
              </a:defRPr>
            </a:pPr>
            <a:r>
              <a:t>Ролевая модель доступа (RBAC) и Crypto KeyStore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6 ролей для команды SOC в соответствии со стандартами Enterprise и защита криптографических ключей узлов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937760" cy="23317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4535424" cy="2075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Матрица ролей SOC (6 Enterprise Ролей)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CISO (Главный администратор): полный контроль политик, KeyStore и конфигурации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SOC Lead (Руководитель смены): управление деплоем ловушек, Honeytokens и аналитика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Senior Analyst L2: расследование инцидентов, анализ сессий и перехваченного malware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Watcher L1: оперативный мониторинг живой ленты событий и подтверждение алертов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Compliance Auditor: аудит действий операторов и комплаенс-отчетность (Read-Only)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SOC Analyst: базовый профиль для работы с очередью инцидентов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4937760" cy="22402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15384"/>
            <a:ext cx="4535424" cy="1984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58E3C"/>
                </a:solidFill>
                <a:latin typeface="Segoe UI"/>
              </a:defRPr>
            </a:pPr>
            <a:r>
              <a:t>Криптографический KeyStore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Безопасное хранение мастер-ключей (NODE_KEY), HMAC-секретов и токенов агентов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Криптографическая защита: алгоритм шифрования AES-256-GCM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Деривация мастер-ключа: PBKDF2-HMAC-SHA256 с 100 000 итераций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Изоляция учетных данных операторов: безопасное хеширование паролей Argon2 / Bcrypt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00200"/>
            <a:ext cx="5486400" cy="4709160"/>
          </a:xfrm>
          <a:prstGeom prst="roundRect">
            <a:avLst/>
          </a:prstGeom>
          <a:solidFill>
            <a:srgbClr val="12141B"/>
          </a:solidFill>
          <a:ln w="1905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0_users_and_key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673352"/>
            <a:ext cx="5340096" cy="4251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16752" y="5907024"/>
            <a:ext cx="5340096" cy="329184"/>
          </a:xfrm>
          <a:prstGeom prst="rect">
            <a:avLst/>
          </a:prstGeom>
          <a:solidFill>
            <a:srgbClr val="12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8BDF8"/>
                </a:solidFill>
                <a:latin typeface="Consolas"/>
              </a:defRPr>
            </a:pPr>
            <a:r>
              <a:t>Управление операторами SOC и защищенный криптографический KeyStore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9184"/>
            <a:ext cx="2926080" cy="292608"/>
          </a:xfrm>
          <a:prstGeom prst="roundRect">
            <a:avLst/>
          </a:prstGeom>
          <a:solidFill>
            <a:srgbClr val="1123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// РЕЗУЛЬТАТЫ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29184"/>
            <a:ext cx="1737360" cy="292608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58E3C"/>
                </a:solidFill>
                <a:latin typeface="Consolas"/>
              </a:defRPr>
            </a:pPr>
            <a:r>
              <a:t>⏱ 4:45 - 5:00 (15с)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3F4F6"/>
                </a:solidFill>
                <a:latin typeface="Segoe UI"/>
              </a:defRPr>
            </a:pPr>
            <a:r>
              <a:t>Итоги реализации и готовность к внедрению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Полное соответствие требованиям ТЗ, развернутый стенд и готовность к вопросам жюри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937760" cy="233172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E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4535424" cy="2075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Ключевые достижения проекта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100% требований кейса «Мадригал» полностью реализовано и протестировано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15/15 Pytest тестов пройдено (Auth, Coverage, Realism, Sessions, Keystore)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11/11 проверок скрытности (Stealth Audit passed: DMZ, RUM, rsyslogd)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▸ Готовность к промышленной эксплуатации: 0 ложных срабатываний, STIX 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4937760" cy="2240280"/>
          </a:xfrm>
          <a:prstGeom prst="roundRect">
            <a:avLst/>
          </a:prstGeom>
          <a:solidFill>
            <a:srgbClr val="181B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24528"/>
            <a:ext cx="4535424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🌐 Публичный стенд для тестирования жюри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Consolas"/>
              </a:defRPr>
            </a:pPr>
            <a:r>
              <a:t>▸ Ссылка: https://uniprotkb-transportation-las-websites.trycloudflare.com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Consolas"/>
              </a:defRPr>
            </a:pPr>
            <a:r>
              <a:t>▸ Логин: admin (CISO / Главный администратор)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Consolas"/>
              </a:defRPr>
            </a:pPr>
            <a:r>
              <a:t>▸ Учетные записи: CISO, SOC Lead, Analyst L2, L1, Auditor (в README.md)</a:t>
            </a:r>
          </a:p>
          <a:p>
            <a:pPr>
              <a:spcAft>
                <a:spcPts val="400"/>
              </a:spcAft>
              <a:defRPr sz="950">
                <a:solidFill>
                  <a:srgbClr val="F3F4F6"/>
                </a:solidFill>
                <a:latin typeface="Consolas"/>
              </a:defRPr>
            </a:pPr>
            <a:r>
              <a:t>▸ Быстрый запуск локально: docker compose up -d --build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4937760" cy="2240280"/>
          </a:xfrm>
          <a:prstGeom prst="roundRect">
            <a:avLst/>
          </a:prstGeom>
          <a:solidFill>
            <a:srgbClr val="181B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06240"/>
            <a:ext cx="4535424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🌐 Доступ к стенду для экспертов жюри</a:t>
            </a:r>
          </a:p>
          <a:p>
            <a:pPr>
              <a:spcAft>
                <a:spcPts val="350"/>
              </a:spcAft>
              <a:defRPr sz="900">
                <a:solidFill>
                  <a:srgbClr val="F3F4F6"/>
                </a:solidFill>
                <a:latin typeface="Consolas"/>
              </a:defRPr>
            </a:pPr>
            <a:r>
              <a:t>▸ Для жюри: логин jury • пароль jury2026 (Режим просмотра)</a:t>
            </a:r>
          </a:p>
          <a:p>
            <a:pPr>
              <a:spcAft>
                <a:spcPts val="350"/>
              </a:spcAft>
              <a:defRPr sz="900">
                <a:solidFill>
                  <a:srgbClr val="F3F4F6"/>
                </a:solidFill>
                <a:latin typeface="Consolas"/>
              </a:defRPr>
            </a:pPr>
            <a:r>
              <a:t>▸ Кнопка на форме: «Быстрый вход для жюри» (в 1 клик)</a:t>
            </a:r>
          </a:p>
          <a:p>
            <a:pPr>
              <a:spcAft>
                <a:spcPts val="350"/>
              </a:spcAft>
              <a:defRPr sz="900">
                <a:solidFill>
                  <a:srgbClr val="F3F4F6"/>
                </a:solidFill>
                <a:latin typeface="Consolas"/>
              </a:defRPr>
            </a:pPr>
            <a:r>
              <a:t>▸ Для CISO: логин admin • пароль zd4maiMGqDrbARkXKbQDJQ</a:t>
            </a:r>
          </a:p>
          <a:p>
            <a:pPr>
              <a:spcAft>
                <a:spcPts val="350"/>
              </a:spcAft>
              <a:defRPr sz="900">
                <a:solidFill>
                  <a:srgbClr val="F3F4F6"/>
                </a:solidFill>
                <a:latin typeface="Consolas"/>
              </a:defRPr>
            </a:pPr>
            <a:r>
              <a:t>▸ Публичный URL: https://uniprotkb-transportation-las-websites.trycloudflare.com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00200"/>
            <a:ext cx="5486400" cy="1371600"/>
          </a:xfrm>
          <a:prstGeom prst="roundRect">
            <a:avLst/>
          </a:prstGeom>
          <a:solidFill>
            <a:srgbClr val="12141B"/>
          </a:solidFill>
          <a:ln w="19050">
            <a:solidFill>
              <a:srgbClr val="E5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19072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F59E0B"/>
                </a:solidFill>
                <a:latin typeface="Segoe UI"/>
              </a:defRPr>
            </a:pPr>
            <a:r>
              <a:t>Спасибо за внимание!</a:t>
            </a:r>
          </a:p>
          <a:p>
            <a:pPr algn="ctr">
              <a:spcAft>
                <a:spcPts val="3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Готовы ответить на вопросы экспертов</a:t>
            </a:r>
          </a:p>
          <a:p>
            <a:pPr algn="ctr">
              <a:defRPr sz="950">
                <a:solidFill>
                  <a:srgbClr val="9CA3AF"/>
                </a:solidFill>
                <a:latin typeface="Consolas"/>
              </a:defRPr>
            </a:pPr>
            <a:r>
              <a:t>⏱ Регламент ответов на вопросы: 3 минуты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08960"/>
            <a:ext cx="5486400" cy="3200400"/>
          </a:xfrm>
          <a:prstGeom prst="roundRect">
            <a:avLst/>
          </a:prstGeom>
          <a:solidFill>
            <a:srgbClr val="181B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3291840"/>
            <a:ext cx="23774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jury_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337560"/>
            <a:ext cx="2286000" cy="228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0" y="57150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38BDF8"/>
                </a:solidFill>
                <a:latin typeface="Consolas"/>
              </a:defRPr>
            </a:pPr>
            <a:r>
              <a:t>📱 QR-код для мгновенного входа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291840"/>
            <a:ext cx="2514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58E3C"/>
                </a:solidFill>
                <a:latin typeface="Segoe UI"/>
              </a:defRPr>
            </a:pPr>
            <a:r>
              <a:t>Вход без ввода пароля:</a:t>
            </a:r>
          </a:p>
          <a:p>
            <a:pPr>
              <a:spcAft>
                <a:spcPts val="800"/>
              </a:spcAft>
              <a:defRPr sz="950">
                <a:solidFill>
                  <a:srgbClr val="F3F4F6"/>
                </a:solidFill>
                <a:latin typeface="Segoe UI"/>
              </a:defRPr>
            </a:pPr>
            <a:r>
              <a:t>Наведите камеру смартфона на QR-код для открытия веб-интерфейса HoneyForge.</a:t>
            </a:r>
            <a:br/>
            <a:r>
              <a:t>Авторизация происходит мгновенно в 1 клик!</a:t>
            </a:r>
          </a:p>
          <a:p>
            <a:pPr>
              <a:defRPr sz="850">
                <a:solidFill>
                  <a:srgbClr val="10B981"/>
                </a:solidFill>
                <a:latin typeface="Consolas"/>
              </a:defRPr>
            </a:pPr>
            <a:r>
              <a:t>✓ Роль: Эксперт жюри</a:t>
            </a:r>
            <a:br/>
            <a:r>
              <a:t>✓ Полный просмотр SOC</a:t>
            </a:r>
            <a:br/>
            <a:r>
              <a:t>✓ TTY-сессии и IoC STIX</a:t>
            </a:r>
            <a:br/>
            <a:r>
              <a:t>✓ Безопасный Read-Only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